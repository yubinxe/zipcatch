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 설명 없이 사진 한 장만 띄운다. 3초 정지.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사진. 여전히 설명하지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"이 세 가지를 보고 무엇이 떠오르시나요?" 객석 답변을 2~3개 받는다. 틀린 답도 받아준다.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말할 때는 화면을 보지 않는다. "정답은, 청약입니다."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"투기과열지구 분양 물건은 추첨제 할당이 정해져 있습니다. 가점이 낮아도 현금만 있으면 로또 청약에 당첨될 수 있다는 뜻입니다."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"둔촌주공으로 알려진 올파포입니다. 2022년 우크라이나 전쟁과 고금리로 하락장이 시작되자 당첨되고도 포기하는 사례가 속출했고, 결국 줍줍 사태까지 벌어졌습니다."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"마지막은 공공임대 정책입니다. 임대주택도 결국 청약으로 공급됩니다. 그래서 지금 더 많은 사람이 청약에 관심을 갖고 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톤을 낮춘다. "그런데 문제가 있습니다." 한 박자 쉬고 다음 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개를 손으로 하나씩 짚으며 말한다. "공고를 살피고, 조건을 맞추고, 가점 계산까지." 마지막 검은 띠에서 한 박자 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"그래서 저희는 만들었습니다." 말하고 바로 다음 장으로 넘긴다. 여기서 멈추지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"그 상시 대비를 대신하는 서비스가 집캐치입니다."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슬라이드를 보지 않고 외워서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가지의 공통점은 무엇입니까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안유진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 · 1990년대생 자산가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가지의 공통점은 무엇입니까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안유진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 · 1990년대생 자산가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assets/hook-02*.jpg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95216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95216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강동 · 12,032세대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가지의 공통점은 무엇입니까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영역의 세 장면이 하나의 제도로 연결됩니다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안유진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 · 1990년대생 자산가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assets/hook-02*.jpg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95216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95216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강동 · 12,032세대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assets/hook-03*.jpg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이재명 정부 주택정책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077200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중심 공급 기조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잠시 생각해 보시기 바랍니다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706624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2907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4439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장면 모두 청약 제도가 만들어낸 결과입니다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청약의 당락은 가점이 아니라 제도 · 시장 · 정책의 함수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추첨제 할당은 규칙으로 고정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7200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청약의 당락은 가점이 아니라 제도 · 시장 · 정책의 함수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추첨제 할당은 규칙으로 고정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assets/hook-05*.jpg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5216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95216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하락장에서는 경쟁률이 붕괴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395216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포레온은 2022년 고금리 국면에서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포기가 이어져 무순위 청약이 발생했고,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최저 당첨가점은 26점이었습니다.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청약의 당락은 가점이 아니라 제도 · 시장 · 정책의 함수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추첨제 할당은 규칙으로 고정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assets/hook-05*.jpg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5216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95216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하락장에서는 경쟁률이 붕괴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395216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포레온은 2022년 고금리 국면에서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포기가 이어져 무순위 청약이 발생했고,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최저 당첨가점은 26점이었습니다.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2212848"/>
            <a:ext cx="1639824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77200" y="2212848"/>
            <a:ext cx="16398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assets/hook-03*.jpg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08464" y="2212848"/>
            <a:ext cx="1639824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08464" y="2212848"/>
            <a:ext cx="16398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assets/hook-06*.jpg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77200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97824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77200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77200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확대는 청약 수요를 키움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077200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임대주택 역시 청약 절차로만 공급됩니다.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중심 공급 기조는 곧 청약 대상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인구의 확대를 의미합니다.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기회는 시장을 예측한 사람이 아니라, 상시 대비해 둔 사람에게 귀속됩니다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798064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3017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5200" b="1" spc="-1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청약은,</a:t>
            </a:r>
            <a:endParaRPr lang="en-US" sz="5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5200" b="1" spc="-1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복잡합니다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FRICTION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확인 · 조건 대조 · 가점 산정 — 어느 하나도 자동화되어 있지 않음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한 건을 넣기 위해 개인이 직접 처리해야 하는 작업입니다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공고를 살피고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7249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159105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 출처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청약홈(분양)과 LH청약플러스(임대)가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분리되어 있고, 공급유형은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특별공급 7종 · 공공임대 6종으로 나뉩니다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95216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조건을 맞추고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5216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95216" y="27249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273040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 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무주택 여부 · 세대구성 · 소득 · 자산 ·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거주기간 · 청약통장 — 기준이 공고마다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다르고, 공고문 안에만 적혀 있습니다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가점을 계산하고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77200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77200" y="27249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</a:t>
            </a:r>
            <a:endParaRPr lang="en-US" sz="6000" dirty="0"/>
          </a:p>
        </p:txBody>
      </p:sp>
      <p:sp>
        <p:nvSpPr>
          <p:cNvPr id="19" name="Text 17"/>
          <p:cNvSpPr txBox="1"/>
          <p:nvPr/>
        </p:nvSpPr>
        <p:spPr>
          <a:xfrm>
            <a:off x="9649968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 만점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77200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무주택기간 32점 + 부양가족수 35점 +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가입기간 17점. 가입월수와 무주택기간을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세어 본인이 산정해야 합니다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5120640"/>
            <a:ext cx="10735056" cy="603504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70432" y="5120640"/>
            <a:ext cx="9820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하나라도 틀리면 — 부적격 당첨 시 지역에 따라 6개월~1년간 청약이 제한됩니다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떨어지는 이유의 상당수는 조건이 아니라 절차입니다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제23조 · 제28조 · 제58조, 청약홈 가점 산정 기준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WE BUILT IT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798064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3017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5200" b="1" spc="-1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저희는,</a:t>
            </a:r>
            <a:endParaRPr lang="en-US" sz="5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5200" b="1" spc="-1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만들었습니다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SERVICE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359152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2560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26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041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 · 공공임대 통합 탐색 서비스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45537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대비를 개인의 성실성이 아닌 서비스의 기능으로 전환합니다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535838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552297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 · LH청약플러스 공공데이터 기반   |   IR 요약자료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정보의 부족이 아니라 선별 기준의 부재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전량 공개되어 있으나, 개인 조건 기준의 선별 수단이 존재하지 않습니다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분산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분양은 청약홈, 임대는 LH청약플러스로 이원화되어 단일 조회 수단이 부재합니다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395216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5216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95216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 기능 부재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395216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· 예산 · 면적 · 가구형태를 기준으로 후보를 좁히는 기능이 제공되지 않습니다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77200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7200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77200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관리 공백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077200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· 서류 · 발표 · 계약 일정이 공고문 내부에만 존재해 개인이 직접 관리해야 합니다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517136"/>
            <a:ext cx="10735056" cy="1024128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70432" y="4517136"/>
            <a:ext cx="9820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공고 데이터를 두고도, 「내가 지금 넣을 수 있는 것」을 판별하는 계층만 비어 있습니다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대상은 정보 접근성이 아니라 판단 지원입니다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청약홈 · LH청약플러스 공고 체계 분석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1회로 지원 가능 후보를 선별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공고 데이터에서 검증 가능한 판단 근거를 생성합니다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5029200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260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모집공고   제12차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공급유형   국민임대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전용면적   —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보증금     —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접수       2026.09.18~09.20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25312" y="3328416"/>
            <a:ext cx="384048" cy="329184"/>
          </a:xfrm>
          <a:prstGeom prst="rightArrow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212848"/>
            <a:ext cx="4956048" cy="2615184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76288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후보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이내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3474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29㎡        희망 최소 28㎡ 대비 +1㎡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3,200만원  상한 8,000만원 이내</a:t>
            </a:r>
            <a:endParaRPr lang="en-US" sz="12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마감        D-3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138928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근거를 점수 구간이 아닌 실측값 차이로 제시합니다 — 「+1㎡」 「4,800만원 초과」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검산할 수 있는 근거만 화면에 남깁니다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매칭 엔진 lib/services/matching.ts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JOURNEY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방문부터 재방문까지 6단계 단일 흐름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지점마다 별도 화면이 아닌 하나의 연속 동선으로 설계했습니다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3090672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열람 전 서비스 가치 인지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312724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→ 주거비 → 가구 · 선호 3단계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422452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확인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초과 분리 제시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32180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107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· 알림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8668512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/saved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관심공고 저장 및 알림 수신 설정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312724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91072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</a:t>
            </a:r>
            <a:endParaRPr lang="en-US" sz="1750" dirty="0"/>
          </a:p>
        </p:txBody>
      </p:sp>
      <p:sp>
        <p:nvSpPr>
          <p:cNvPr id="28" name="Text 26"/>
          <p:cNvSpPr txBox="1"/>
          <p:nvPr/>
        </p:nvSpPr>
        <p:spPr>
          <a:xfrm>
            <a:off x="8668512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기반 계정 생성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422452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9107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</a:t>
            </a:r>
            <a:endParaRPr lang="en-US" sz="1750" dirty="0"/>
          </a:p>
        </p:txBody>
      </p:sp>
      <p:sp>
        <p:nvSpPr>
          <p:cNvPr id="33" name="Text 31"/>
          <p:cNvSpPr txBox="1"/>
          <p:nvPr/>
        </p:nvSpPr>
        <p:spPr>
          <a:xfrm>
            <a:off x="8668512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공고 · 마감 임박 알림으로 재유입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91072" y="532180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CRM은 내부 운영 자산이며 소비자 판매 상품이 아닙니다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소비자 화면 구성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INTEGRITY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부동산 서비스의 신뢰 훼손 요인을 사전 차단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정확도보다 「틀린 것을 말하지 않는 것」을 우선 원칙으로 삼았습니다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3591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당첨 확률 미산출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712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데이터만으로는 개인별 확률 산출 근거가 부재합니다. 과거 당첨가점 비교만 제공하며, 표본 부재 시 「자료 부족」으로 표기합니다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91072" y="23591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결측값 미보완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8712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 분양정보의 전용면적 · 보증금 · 월임대료는 null을 유지한 뒤 「미공개」로 표기합니다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968496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4114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구분 표기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 기한은 OFFICIAL, 역산한 준비일은 RECOMMENDED로 구분해 표기합니다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3968496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1072" y="4114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실패 미은폐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실패 시 sources[]에 원문 그대로 반영하며, 합성 데이터로 대체하지 않습니다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과장하지 않는 것이 이 영역에서 가장 빠른 신뢰 축적 경로입니다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데이터 수집 · 표기 규정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 · 임대로 이원화된 출처를 단일 서비스로 통합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경로와 데이터 성격을 공고 단위로 명시합니다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10735056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359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3273552" y="23591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 모집공고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17152" y="235915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공공데이터포털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LH 청약플러스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31455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국민임대 · 행복주택 · 매입임대 · 통합공공임대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17152" y="314553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공공데이터포털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3785616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39319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직접 등록 공고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393192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업로드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4572000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7183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3273552" y="47183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구성용 합성 데이터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17152" y="471830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dataOrigin: SYNTHETIC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358384"/>
            <a:ext cx="10735056" cy="64008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70432" y="5358384"/>
            <a:ext cx="9820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공고는 「공식 공고」, 합성 데이터는 「예시 공고」로 화면에서 구분 표기합니다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성격이 구분되지 않은 데이터는 화면에 올리지 않습니다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공공데이터포털 API 연동 현황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 단위 CRM 운영을 Claude Routines 12종으로 자동화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인력 증원 없이 고객 응대 · 발송 · 점검 주기를 고정했습니다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9107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10512" y="2340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상태 점검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277063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07:30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데이터 품질 점검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3282696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364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10512" y="3364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임박 고객 알림 · 메일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3794760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CRM 운영 브리핑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3232" y="4306824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389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10512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추천 공고 알림 · 메일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481888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10512" y="49011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연락할 고객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" y="533095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91072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2340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고의도 고객 감지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91072" y="277063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1072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88352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진행 고객 점검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91072" y="3282696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91072" y="3364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18:00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88352" y="3364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전환 퍼널 점검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91072" y="3794760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91072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매시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88352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변경 감시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91072" y="4306824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91072" y="4389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매시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88352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실패 재처리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291072" y="481888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91072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월요일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388352" y="49011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CRM KPI 리포트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291072" y="533095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" y="5413248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실데이터 조회 · Gmail 발송 · 실행 이력 자동 적재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비용이 고객 수에 비례해 증가하지 않는 구조입니다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Claude Routines 등록 현황 (Asia/Seoul 기준)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spc="-40" kern="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확장 → 구독 전환 → B2B 데이터의 3단계 수익화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3단계가 실질 매출 축에 해당하며, 1 · 2단계는 데이터 축적 단계입니다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944368"/>
            <a:ext cx="337108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확장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13308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기능 무료 제공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· 관심공고 데이터 확보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4128" y="5010912"/>
            <a:ext cx="274929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월간 활성 사용자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5216" y="2624328"/>
            <a:ext cx="337108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6112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6112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전환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706112" y="381304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알림 · 정밀 후보 리포트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자가진단 유료화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6112" y="4690872"/>
            <a:ext cx="274929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6112" y="4782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유료 전환율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7200" y="2304288"/>
            <a:ext cx="3371088" cy="3291840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8096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88096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데이터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388096" y="349300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시행사 · 분양대행사 대상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 · 조건 분포 분석 제공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88096" y="4370832"/>
            <a:ext cx="2749296" cy="0"/>
          </a:xfrm>
          <a:prstGeom prst="line">
            <a:avLst/>
          </a:prstGeom>
          <a:noFill/>
          <a:ln w="12700">
            <a:solidFill>
              <a:srgbClr val="3546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88096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계약 단지 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축적된 조건 · 관심공고 데이터는 경쟁사가 복제할 수 없는 자산입니다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사업계획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2286000"/>
            <a:ext cx="137160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261518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A0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이미 공개되어 있습니다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163824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부재한 것은 정보가 아니라</a:t>
            </a:r>
            <a:endParaRPr lang="en-US" sz="42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선별의 기준입니다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0292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집캐치는 그 기준을 제공합니다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94360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20" kern="0" dirty="0">
                <a:solidFill>
                  <a:srgbClr val="6E7B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  ·  ZipCatch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집캐치 IR</dc:title>
  <dc:subject>PptxGenJS Presentation</dc:subject>
  <dc:creator>ZipCatch</dc:creator>
  <cp:lastModifiedBy>ZipCatch</cp:lastModifiedBy>
  <cp:revision>1</cp:revision>
  <dcterms:created xsi:type="dcterms:W3CDTF">2026-09-17T03:56:31Z</dcterms:created>
  <dcterms:modified xsi:type="dcterms:W3CDTF">2026-09-17T03:56:31Z</dcterms:modified>
</cp:coreProperties>
</file>